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9336D9-D000-49A8-BC92-41EED7D825D3}">
  <a:tblStyle styleId="{3D9336D9-D000-49A8-BC92-41EED7D825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806440"/>
            <a:ext cx="457200" cy="502920"/>
          </a:xfrm>
          <a:prstGeom prst="rect">
            <a:avLst/>
          </a:prstGeom>
          <a:solidFill>
            <a:srgbClr val="13A1B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66928" y="5806440"/>
            <a:ext cx="457200" cy="667512"/>
          </a:xfrm>
          <a:prstGeom prst="rect">
            <a:avLst/>
          </a:prstGeom>
          <a:solidFill>
            <a:srgbClr val="1C7293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33856" y="5806440"/>
            <a:ext cx="457200" cy="832104"/>
          </a:xfrm>
          <a:prstGeom prst="rect">
            <a:avLst/>
          </a:prstGeom>
          <a:solidFill>
            <a:srgbClr val="0A527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700784" y="5806440"/>
            <a:ext cx="457200" cy="996696"/>
          </a:xfrm>
          <a:prstGeom prst="rect">
            <a:avLst/>
          </a:prstGeom>
          <a:solidFill>
            <a:srgbClr val="F2A541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267712" y="5806440"/>
            <a:ext cx="457200" cy="502920"/>
          </a:xfrm>
          <a:prstGeom prst="rect">
            <a:avLst/>
          </a:prstGeom>
          <a:solidFill>
            <a:srgbClr val="8ECAE6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834640" y="5806440"/>
            <a:ext cx="457200" cy="667512"/>
          </a:xfrm>
          <a:prstGeom prst="rect">
            <a:avLst/>
          </a:prstGeom>
          <a:solidFill>
            <a:srgbClr val="13A1B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401568" y="5806440"/>
            <a:ext cx="457200" cy="832104"/>
          </a:xfrm>
          <a:prstGeom prst="rect">
            <a:avLst/>
          </a:prstGeom>
          <a:solidFill>
            <a:srgbClr val="1C7293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968496" y="5806440"/>
            <a:ext cx="457200" cy="996696"/>
          </a:xfrm>
          <a:prstGeom prst="rect">
            <a:avLst/>
          </a:prstGeom>
          <a:solidFill>
            <a:srgbClr val="0A527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35424" y="5806440"/>
            <a:ext cx="457200" cy="502920"/>
          </a:xfrm>
          <a:prstGeom prst="rect">
            <a:avLst/>
          </a:prstGeom>
          <a:solidFill>
            <a:srgbClr val="F2A541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102352" y="5806440"/>
            <a:ext cx="457200" cy="667512"/>
          </a:xfrm>
          <a:prstGeom prst="rect">
            <a:avLst/>
          </a:prstGeom>
          <a:solidFill>
            <a:srgbClr val="8ECAE6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669280" y="5806440"/>
            <a:ext cx="457200" cy="832104"/>
          </a:xfrm>
          <a:prstGeom prst="rect">
            <a:avLst/>
          </a:prstGeom>
          <a:solidFill>
            <a:srgbClr val="13A1B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236208" y="5806440"/>
            <a:ext cx="457200" cy="996696"/>
          </a:xfrm>
          <a:prstGeom prst="rect">
            <a:avLst/>
          </a:prstGeom>
          <a:solidFill>
            <a:srgbClr val="1C7293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803136" y="5806440"/>
            <a:ext cx="457200" cy="502920"/>
          </a:xfrm>
          <a:prstGeom prst="rect">
            <a:avLst/>
          </a:prstGeom>
          <a:solidFill>
            <a:srgbClr val="0A527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370064" y="5806440"/>
            <a:ext cx="457200" cy="667512"/>
          </a:xfrm>
          <a:prstGeom prst="rect">
            <a:avLst/>
          </a:prstGeom>
          <a:solidFill>
            <a:srgbClr val="F2A541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936992" y="5806440"/>
            <a:ext cx="457200" cy="832104"/>
          </a:xfrm>
          <a:prstGeom prst="rect">
            <a:avLst/>
          </a:prstGeom>
          <a:solidFill>
            <a:srgbClr val="8ECAE6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8503920" y="5806440"/>
            <a:ext cx="457200" cy="996696"/>
          </a:xfrm>
          <a:prstGeom prst="rect">
            <a:avLst/>
          </a:prstGeom>
          <a:solidFill>
            <a:srgbClr val="13A1B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070848" y="5806440"/>
            <a:ext cx="457200" cy="502920"/>
          </a:xfrm>
          <a:prstGeom prst="rect">
            <a:avLst/>
          </a:prstGeom>
          <a:solidFill>
            <a:srgbClr val="1C7293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9637776" y="5806440"/>
            <a:ext cx="457200" cy="667512"/>
          </a:xfrm>
          <a:prstGeom prst="rect">
            <a:avLst/>
          </a:prstGeom>
          <a:solidFill>
            <a:srgbClr val="0A527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0204704" y="5806440"/>
            <a:ext cx="457200" cy="832104"/>
          </a:xfrm>
          <a:prstGeom prst="rect">
            <a:avLst/>
          </a:prstGeom>
          <a:solidFill>
            <a:srgbClr val="F2A541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771632" y="5806440"/>
            <a:ext cx="457200" cy="996696"/>
          </a:xfrm>
          <a:prstGeom prst="rect">
            <a:avLst/>
          </a:prstGeom>
          <a:solidFill>
            <a:srgbClr val="8ECAE6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1338560" y="5806440"/>
            <a:ext cx="457200" cy="502920"/>
          </a:xfrm>
          <a:prstGeom prst="rect">
            <a:avLst/>
          </a:prstGeom>
          <a:solidFill>
            <a:srgbClr val="13A1B5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1905488" y="5806440"/>
            <a:ext cx="457200" cy="667512"/>
          </a:xfrm>
          <a:prstGeom prst="rect">
            <a:avLst/>
          </a:prstGeom>
          <a:solidFill>
            <a:srgbClr val="1C7293">
              <a:alpha val="7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8E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CONTAINER · STOWAGE · MARITIME REGULATION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Malgun Gothic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항만 특화 SLM 파인튜닝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2800"/>
              <a:buFont typeface="Malgun Gothic"/>
              <a:buNone/>
            </a:pPr>
            <a:r>
              <a:rPr lang="en-US" sz="2800" b="0" i="0" u="none" strike="noStrike" cap="none">
                <a:solidFill>
                  <a:srgbClr val="8E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· EDA · 전처리 현황 보고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3A1B5"/>
              </a:buClr>
              <a:buSzPts val="1600"/>
              <a:buFont typeface="Malgun Gothic"/>
              <a:buNone/>
            </a:pPr>
            <a:r>
              <a:rPr lang="en-US" sz="1600" b="1" i="0" u="none" strike="noStrike" cap="none">
                <a:solidFill>
                  <a:srgbClr val="13A1B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</a:t>
            </a:r>
            <a:r>
              <a:rPr lang="en-US" sz="16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검색증강    </a:t>
            </a:r>
            <a:r>
              <a:rPr lang="en-US" sz="16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RDB(LPG) </a:t>
            </a:r>
            <a:r>
              <a:rPr lang="en-US" sz="16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지식그래프    </a:t>
            </a:r>
            <a:r>
              <a:rPr lang="en-US" sz="1600" b="1" i="0" u="none" strike="noStrike" cap="none">
                <a:solidFill>
                  <a:srgbClr val="8E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</a:t>
            </a:r>
            <a:r>
              <a:rPr lang="en-US" sz="16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지시튜닝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822960" y="4251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260+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22960" y="4800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3ED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파일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520440" y="4251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~226MB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520440" y="4800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3ED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용량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217920" y="4251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217920" y="4800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3ED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코퍼스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915400" y="42519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915400" y="4800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3ED"/>
              </a:buClr>
              <a:buSzPts val="1300"/>
              <a:buFont typeface="Malgun Gothic"/>
              <a:buNone/>
            </a:pPr>
            <a:r>
              <a:rPr lang="en-US" sz="13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샘플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22960" y="5532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CCC"/>
              </a:buClr>
              <a:buSzPts val="1200"/>
              <a:buFont typeface="Malgun Gothic"/>
              <a:buNone/>
            </a:pPr>
            <a:r>
              <a:rPr lang="en-US" sz="1200" b="0" i="0" u="none" strike="noStrike" cap="none">
                <a:solidFill>
                  <a:srgbClr val="9FBCCC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2026.06  ·  연구: Hongsung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13232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Malgun Gothic"/>
              <a:buNone/>
            </a:pPr>
            <a:r>
              <a:rPr lang="en-US" sz="26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데이터 수집 현황 — 개요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31520" y="107899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400"/>
              <a:buFont typeface="Malgun Gothic"/>
              <a:buNone/>
            </a:pPr>
            <a:r>
              <a:rPr lang="en-US" sz="14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국제 규정·EDI 표준·적재계획·운영 SOP·강화학습 결과를 망라한 항만 도메인 코퍼스를 RAG / RDB(LPG) / SFT 3대 산출물 형태로 구축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31520" y="1783080"/>
            <a:ext cx="2514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31520" y="1783080"/>
            <a:ext cx="2514600" cy="109728"/>
          </a:xfrm>
          <a:prstGeom prst="rect">
            <a:avLst/>
          </a:prstGeom>
          <a:solidFill>
            <a:srgbClr val="0A52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31520" y="20574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3400"/>
              <a:buFont typeface="Malgun Gothic"/>
              <a:buNone/>
            </a:pPr>
            <a:r>
              <a:rPr lang="en-US" sz="34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260+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6868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 파일 수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474720" y="1783080"/>
            <a:ext cx="2514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474720" y="1783080"/>
            <a:ext cx="2514600" cy="1097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474720" y="20574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400"/>
              <a:buFont typeface="Malgun Gothic"/>
              <a:buNone/>
            </a:pPr>
            <a:r>
              <a:rPr lang="en-US" sz="3400" b="1" i="0" u="none" strike="noStrike" cap="none">
                <a:solidFill>
                  <a:srgbClr val="1C7293"/>
                </a:solidFill>
                <a:latin typeface="Malgun Gothic"/>
                <a:ea typeface="Malgun Gothic"/>
                <a:cs typeface="Malgun Gothic"/>
                <a:sym typeface="Malgun Gothic"/>
              </a:rPr>
              <a:t>226 MB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1188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데이터 용량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217920" y="1783080"/>
            <a:ext cx="2514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217920" y="1783080"/>
            <a:ext cx="2514600" cy="109728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217920" y="20574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A1B5"/>
              </a:buClr>
              <a:buSzPts val="3400"/>
              <a:buFont typeface="Malgun Gothic"/>
              <a:buNone/>
            </a:pPr>
            <a:r>
              <a:rPr lang="en-US" sz="3400" b="1" i="0" u="none" strike="noStrike" cap="none">
                <a:solidFill>
                  <a:srgbClr val="13A1B5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35508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코퍼스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961120" y="1783080"/>
            <a:ext cx="2514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8961120" y="1783080"/>
            <a:ext cx="2514600" cy="109728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961120" y="2057400"/>
            <a:ext cx="2514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3400"/>
              <a:buFont typeface="Malgun Gothic"/>
              <a:buNone/>
            </a:pPr>
            <a:r>
              <a:rPr lang="en-US" sz="34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098280" y="269748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250"/>
              <a:buFont typeface="Malgun Gothic"/>
              <a:buNone/>
            </a:pPr>
            <a:r>
              <a:rPr lang="en-US" sz="125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유형 (RAG·LPG·SFT)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31520" y="3520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최상위 카테고리별 규모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p4"/>
          <p:cNvGraphicFramePr/>
          <p:nvPr/>
        </p:nvGraphicFramePr>
        <p:xfrm>
          <a:off x="731520" y="3931920"/>
          <a:ext cx="5486400" cy="1920250"/>
        </p:xfrm>
        <a:graphic>
          <a:graphicData uri="http://schemas.openxmlformats.org/drawingml/2006/table">
            <a:tbl>
              <a:tblPr>
                <a:noFill/>
                <a:tableStyleId>{3D9336D9-D000-49A8-BC92-41EED7D825D3}</a:tableStyleId>
              </a:tblPr>
              <a:tblGrid>
                <a:gridCol w="356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카테고리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파일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용량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파인튜닝 자료 (규정·EDI·적재계획)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151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171.9 MB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강화학습 결과 자료 (PPO BL/SF/EF)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82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47.4 MB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적재계획 SOP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5.1 MB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Safety SOP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 MB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Google Shape;77;p4"/>
          <p:cNvSpPr/>
          <p:nvPr/>
        </p:nvSpPr>
        <p:spPr>
          <a:xfrm>
            <a:off x="6583680" y="3520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원천 자료 &amp; 파일 형식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583680" y="3931920"/>
            <a:ext cx="50292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812280" y="4069080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1200"/>
              <a:buFont typeface="Malgun Gothic"/>
              <a:buNone/>
            </a:pPr>
            <a:r>
              <a:rPr lang="en-US" sz="12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원천 문서  </a:t>
            </a:r>
            <a:r>
              <a:rPr lang="en-US" sz="120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26 PDF + 21 설계서(docx)</a:t>
            </a:r>
            <a:r>
              <a:rPr lang="en-US" sz="12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— 규정 원문·EDI 사양서·튜토리얼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1200"/>
              <a:buFont typeface="Malgun Gothic"/>
              <a:buNone/>
            </a:pPr>
            <a:r>
              <a:rPr lang="en-US" sz="12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 파일 형식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200"/>
              <a:buFont typeface="Malgun Gothic"/>
              <a:buNone/>
            </a:pPr>
            <a:r>
              <a:rPr lang="en-US" sz="120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JSONL 58 · CSV 34 · JSON 31 · ZIP 25 · CYPHER 13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200"/>
              <a:buFont typeface="Malgun Gothic"/>
              <a:buNone/>
            </a:pPr>
            <a:r>
              <a:rPr lang="en-US" sz="120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PNG 12 · PTH 9(RL 모델) · TXT 8 · XLSX 7 · NPY 4(임베딩)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1200"/>
              <a:buFont typeface="Malgun Gothic"/>
              <a:buNone/>
            </a:pPr>
            <a:r>
              <a:rPr lang="en-US" sz="12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구성 원칙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200"/>
              <a:buFont typeface="Malgun Gothic"/>
              <a:buNone/>
            </a:pPr>
            <a:r>
              <a:rPr lang="en-US" sz="120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코퍼스마다 청크·임베딩·그래프·SFT·설계서를 1세트로 표준화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PortSLM · 항만 특화 SLM 파인튜닝 데이터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13232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Malgun Gothic"/>
              <a:buNone/>
            </a:pPr>
            <a:r>
              <a:rPr lang="en-US" sz="26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데이터 수집 현황 — 도메인 분류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31520" y="1234440"/>
            <a:ext cx="658368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31520" y="1234440"/>
            <a:ext cx="118872" cy="896112"/>
          </a:xfrm>
          <a:prstGeom prst="rect">
            <a:avLst/>
          </a:prstGeom>
          <a:solidFill>
            <a:srgbClr val="0A52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960120" y="1325880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Malgun Gothic"/>
              <a:buNone/>
            </a:pPr>
            <a:r>
              <a:rPr lang="en-US" sz="14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국제 규정 · 표준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60120" y="1691640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SOLAS · ISPS / ISPS Code · IMO 가이드북 · 위험물 선박운송 기준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31520" y="2258568"/>
            <a:ext cx="658368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31520" y="2258568"/>
            <a:ext cx="118872" cy="89611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960120" y="2350008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Malgun Gothic"/>
              <a:buNone/>
            </a:pPr>
            <a:r>
              <a:rPr lang="en-US" sz="14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EDI 메시지 표준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960120" y="2715768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BAPLIE · COPRAR · MOVINS (UN/EDIFACT · SMDG)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31520" y="3282696"/>
            <a:ext cx="658368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731520" y="3282696"/>
            <a:ext cx="118872" cy="896112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60120" y="3374136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Malgun Gothic"/>
              <a:buNone/>
            </a:pPr>
            <a:r>
              <a:rPr lang="en-US" sz="14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적재계획 도메인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60120" y="3739896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CVSP · Stowage Basics · 본선 플래닝 기준 · Bay Plan · 선박제원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31520" y="4306824"/>
            <a:ext cx="658368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31520" y="4306824"/>
            <a:ext cx="118872" cy="896112"/>
          </a:xfrm>
          <a:prstGeom prst="rect">
            <a:avLst/>
          </a:prstGeom>
          <a:solidFill>
            <a:srgbClr val="2E8C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960120" y="4398264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Malgun Gothic"/>
              <a:buNone/>
            </a:pPr>
            <a:r>
              <a:rPr lang="en-US" sz="14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SOP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60120" y="4764024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Safety SOP · 적재계획 SOP (터미널 운영 절차)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31520" y="5330952"/>
            <a:ext cx="6583680" cy="8961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31520" y="5330952"/>
            <a:ext cx="118872" cy="89611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960120" y="5422392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Malgun Gothic"/>
              <a:buNone/>
            </a:pPr>
            <a:r>
              <a:rPr lang="en-US" sz="14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강화학습 결과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60120" y="5788152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PPO 적재 시뮬레이션 BL · SF · EF (3-way 정책)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680960" y="11887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 파일 형식 분포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8080" y="1600200"/>
            <a:ext cx="429768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7498080" y="4617720"/>
            <a:ext cx="4297680" cy="14173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726680" y="473659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8E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3대 산출물 트랙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726680" y="507492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A1B5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13A1B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 </a:t>
            </a:r>
            <a:r>
              <a:rPr lang="en-US" sz="1100" b="0" i="0" u="none" strike="noStrike" cap="none">
                <a:solidFill>
                  <a:srgbClr val="DCEAF2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chunks·embedding·vector_upsert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LPG  </a:t>
            </a:r>
            <a:r>
              <a:rPr lang="en-US" sz="1100" b="0" i="0" u="none" strike="noStrike" cap="none">
                <a:solidFill>
                  <a:srgbClr val="DCEAF2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graph.json·nodes/rels·cypher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100"/>
              <a:buFont typeface="Malgun Gothic"/>
              <a:buNone/>
            </a:pPr>
            <a:r>
              <a:rPr lang="en-US" sz="1100" b="1" i="0" u="none" strike="noStrike" cap="none">
                <a:solidFill>
                  <a:srgbClr val="8E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 </a:t>
            </a:r>
            <a:r>
              <a:rPr lang="en-US" sz="1100" b="0" i="0" u="none" strike="noStrike" cap="none">
                <a:solidFill>
                  <a:srgbClr val="DCEAF2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instruction 데이터셋 (chat/alpaca)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PortSLM · 항만 특화 SLM 파인튜닝 데이터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13232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Malgun Gothic"/>
              <a:buNone/>
            </a:pPr>
            <a:r>
              <a:rPr lang="en-US" sz="26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EDA — SFT &amp; RAG 코퍼스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31520" y="1097280"/>
            <a:ext cx="2514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731520" y="120700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1,003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22960" y="171907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학습 샘플 (28파일)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474720" y="1097280"/>
            <a:ext cx="2514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3474720" y="120700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2,724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566160" y="171907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청크 레코드 (30파일)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17920" y="1097280"/>
            <a:ext cx="2514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217920" y="120700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309360" y="171907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태스크 유형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961120" y="1097280"/>
            <a:ext cx="25146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961120" y="120700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869 / 134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9052560" y="171907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 / alpaca 포맷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31520" y="2331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Malgun Gothic"/>
              <a:buNone/>
            </a:pPr>
            <a:r>
              <a:rPr lang="en-US" sz="14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태스크 유형 분포 (상위)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2743200"/>
            <a:ext cx="544068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6400800" y="2331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50"/>
              <a:buFont typeface="Malgun Gothic"/>
              <a:buNone/>
            </a:pPr>
            <a:r>
              <a:rPr lang="en-US" sz="14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청크 규모 (코퍼스별, 상위)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2743200"/>
            <a:ext cx="544068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PortSLM · 항만 특화 SLM 파인튜닝 데이터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13232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Malgun Gothic"/>
              <a:buNone/>
            </a:pPr>
            <a:r>
              <a:rPr lang="en-US" sz="26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EDA — 지식그래프(LPG) &amp; 강화학습 KPI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31520" y="1188720"/>
            <a:ext cx="26060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31520" y="12801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687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31520" y="181051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50"/>
              <a:buFont typeface="Malgun Gothic"/>
              <a:buNone/>
            </a:pPr>
            <a:r>
              <a:rPr lang="en-US" sz="11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LPG 그래프 노드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474720" y="1188720"/>
            <a:ext cx="26060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474720" y="128016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000"/>
              <a:buFont typeface="Malgun Gothic"/>
              <a:buNone/>
            </a:pPr>
            <a:r>
              <a:rPr lang="en-US" sz="3000" b="1" i="0" u="none" strike="noStrike" cap="none">
                <a:solidFill>
                  <a:srgbClr val="1C7293"/>
                </a:solidFill>
                <a:latin typeface="Malgun Gothic"/>
                <a:ea typeface="Malgun Gothic"/>
                <a:cs typeface="Malgun Gothic"/>
                <a:sym typeface="Malgun Gothic"/>
              </a:rPr>
              <a:t>1,812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474720" y="181051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50"/>
              <a:buFont typeface="Malgun Gothic"/>
              <a:buNone/>
            </a:pPr>
            <a:r>
              <a:rPr lang="en-US" sz="105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LPG 그래프 엣지 (10개 코퍼스)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31520" y="23774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Malgun Gothic"/>
              <a:buNone/>
            </a:pPr>
            <a:r>
              <a:rPr lang="en-US" sz="14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강화학습 KG 주요 엔티티 (RDB·LPG)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5" name="Google Shape;155;p7"/>
          <p:cNvGraphicFramePr/>
          <p:nvPr/>
        </p:nvGraphicFramePr>
        <p:xfrm>
          <a:off x="731520" y="2788920"/>
          <a:ext cx="5349250" cy="2103125"/>
        </p:xfrm>
        <a:graphic>
          <a:graphicData uri="http://schemas.openxmlformats.org/drawingml/2006/table">
            <a:tbl>
              <a:tblPr>
                <a:noFill/>
                <a:tableStyleId>{3D9336D9-D000-49A8-BC92-41EED7D825D3}</a:tableStyleId>
              </a:tblPr>
              <a:tblGrid>
                <a:gridCol w="41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엔티티 / 관계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건수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Container / Slot (적재 단위)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337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REL_STACKED_ON (적재 스택)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270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REL_VIOLATES (제약 위반)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17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노드 타입 9종 (Vessel·Bay·Row·Tier·Slot…)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50"/>
                        <a:buFont typeface="Malgun Gothic"/>
                        <a:buNone/>
                      </a:pPr>
                      <a:r>
                        <a:rPr lang="en-US" sz="115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  <a:endParaRPr sz="115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" name="Google Shape;156;p7"/>
          <p:cNvSpPr/>
          <p:nvPr/>
        </p:nvSpPr>
        <p:spPr>
          <a:xfrm>
            <a:off x="731520" y="5029200"/>
            <a:ext cx="5349240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960120" y="516636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8ECA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큰 그래프  </a:t>
            </a:r>
            <a:r>
              <a:rPr lang="en-US" sz="1150" b="0" i="0" u="none" strike="noStrike" cap="none">
                <a:solidFill>
                  <a:srgbClr val="DCEAF2"/>
                </a:solidFill>
                <a:latin typeface="Malgun Gothic"/>
                <a:ea typeface="Malgun Gothic"/>
                <a:cs typeface="Malgun Gothic"/>
                <a:sym typeface="Malgun Gothic"/>
              </a:rPr>
              <a:t>ISPS Code 135노드·530엣지, CVSP 113노드·331엣지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50"/>
              <a:buFont typeface="Malgun Gothic"/>
              <a:buNone/>
            </a:pPr>
            <a:r>
              <a:rPr lang="en-US" sz="115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의미  </a:t>
            </a:r>
            <a:r>
              <a:rPr lang="en-US" sz="1150" b="0" i="0" u="none" strike="noStrike" cap="none">
                <a:solidFill>
                  <a:srgbClr val="DCEAF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규정·적재계획 도메인이 가장 조밀한 관계망을 형성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Malgun Gothic"/>
              <a:buNone/>
            </a:pPr>
            <a:r>
              <a:rPr lang="en-US" sz="14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강화학습 최종 라운드(Lv4) KPI — BL·SF·EF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9091" y="1600200"/>
            <a:ext cx="54864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6309360" y="4297680"/>
            <a:ext cx="54864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309360" y="4297680"/>
            <a:ext cx="118872" cy="178308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537960" y="440740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관찰 (3-way 정책 비교)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537960" y="4754880"/>
            <a:ext cx="507492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1100"/>
              <a:buFont typeface="Malgun Gothic"/>
              <a:buNone/>
            </a:pPr>
            <a:r>
              <a:rPr lang="en-US" sz="1100" b="1" i="0" u="none" strike="noStrike" cap="none" dirty="0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EF </a:t>
            </a:r>
            <a:r>
              <a:rPr lang="en-US" sz="1100" b="1" i="0" u="none" strike="noStrike" cap="none" dirty="0" err="1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정책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Reward(1,464.5)·VPR(0.9997)·WBI(0.954) 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1100"/>
              <a:buFont typeface="Malgun Gothic"/>
              <a:buNone/>
            </a:pPr>
            <a:r>
              <a:rPr lang="en-US" sz="1100" b="1" i="0" u="none" strike="noStrike" cap="none" dirty="0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 </a:t>
            </a:r>
            <a:r>
              <a:rPr lang="en-US" sz="1100" b="1" i="0" u="none" strike="noStrike" cap="none" dirty="0" err="1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정책</a:t>
            </a:r>
            <a:r>
              <a:rPr lang="en-US" sz="1100" b="1" i="0" u="none" strike="noStrike" cap="none" dirty="0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 OSR=0 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오버스토우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0건) → 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적재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유효성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확보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A5275"/>
              </a:buClr>
              <a:buSzPts val="1100"/>
              <a:buFont typeface="Malgun Gothic"/>
              <a:buNone/>
            </a:pPr>
            <a:r>
              <a:rPr lang="en-US" sz="1100" b="1" i="0" u="none" strike="noStrike" cap="none" dirty="0" err="1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r>
              <a:rPr lang="en-US" sz="1100" b="1" i="0" u="none" strike="noStrike" cap="none" dirty="0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규모</a:t>
            </a:r>
            <a:r>
              <a:rPr lang="en-US" sz="1100" b="1" i="0" u="none" strike="noStrike" cap="none" dirty="0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Lv4 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누적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약 8.07M steps / 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정책당</a:t>
            </a:r>
            <a:r>
              <a:rPr lang="en-US" sz="1100" b="0" i="0" u="none" strike="noStrike" cap="none" dirty="0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4단계 </a:t>
            </a:r>
            <a:r>
              <a:rPr lang="en-US" sz="1100" b="0" i="0" u="none" strike="noStrike" cap="none" dirty="0" err="1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커리큘럼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KPI 용어 설명"/>
          <p:cNvSpPr/>
          <p:nvPr/>
        </p:nvSpPr>
        <p:spPr>
          <a:xfrm>
            <a:off x="6455664" y="5710911"/>
            <a:ext cx="5349240" cy="33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50" b="1" i="0" u="none" strike="noStrike" cap="none" dirty="0">
                <a:solidFill>
                  <a:srgbClr val="0A5275"/>
                </a:solidFill>
                <a:latin typeface="Malgun Gothic"/>
                <a:ea typeface="Malgun Gothic"/>
                <a:cs typeface="Malgun Gothic"/>
                <a:sym typeface="Malgun Gothic"/>
              </a:rPr>
              <a:t>용어  </a:t>
            </a:r>
            <a:r>
              <a:rPr lang="ko-KR" sz="850" b="1" i="0" u="none" strike="noStrike" cap="none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VPR </a:t>
            </a:r>
            <a:r>
              <a:rPr lang="ko-KR" sz="850" b="0" i="0" u="none" strike="noStrike" cap="none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유효배치율</a:t>
            </a:r>
            <a:r>
              <a:rPr lang="ko-KR" sz="850" b="0" i="0" u="none" strike="noStrike" cap="none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(제약 만족 배치, ↑) · </a:t>
            </a:r>
            <a:r>
              <a:rPr lang="ko-KR" sz="850" b="1" i="0" u="none" strike="noStrike" cap="none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WBI </a:t>
            </a:r>
            <a:r>
              <a:rPr lang="ko-KR" sz="850" b="0" i="0" u="none" strike="noStrike" cap="none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중량균형지수(중량 분포 균형, ↑) · </a:t>
            </a:r>
            <a:r>
              <a:rPr lang="ko-KR" sz="850" b="1" i="0" u="none" strike="noStrike" cap="none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OSR </a:t>
            </a:r>
            <a:r>
              <a:rPr lang="ko-KR" sz="850" b="0" i="0" u="none" strike="noStrike" cap="none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오버스토우율</a:t>
            </a:r>
            <a:r>
              <a:rPr lang="ko-KR" sz="850" b="0" i="0" u="none" strike="noStrike" cap="none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sz="850" b="0" i="0" u="none" strike="noStrike" cap="none" dirty="0" err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재취급</a:t>
            </a:r>
            <a:r>
              <a:rPr lang="ko-KR" sz="850" b="0" i="0" u="none" strike="noStrike" cap="none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과적재, ↓·0=최선)</a:t>
            </a:r>
            <a:endParaRPr dirty="0"/>
          </a:p>
        </p:txBody>
      </p:sp>
      <p:sp>
        <p:nvSpPr>
          <p:cNvPr id="164" name="Google Shape;164;p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PortSLM · 항만 특화 SLM 파인튜닝 데이터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13232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Malgun Gothic"/>
              <a:buNone/>
            </a:pPr>
            <a:r>
              <a:rPr lang="en-US" sz="26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데이터 전처리 — 통합 파이프라인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94360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94360" y="1371600"/>
            <a:ext cx="2103120" cy="548640"/>
          </a:xfrm>
          <a:prstGeom prst="rect">
            <a:avLst/>
          </a:prstGeom>
          <a:solidFill>
            <a:srgbClr val="0A52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94360" y="142646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85800" y="20299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원천 수집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04088" y="260604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PDF·EDI 사양·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튜토리얼·규정 원문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697480" y="2331720"/>
            <a:ext cx="164592" cy="365760"/>
          </a:xfrm>
          <a:prstGeom prst="rtTriangle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2862072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2862072" y="1371600"/>
            <a:ext cx="210312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862072" y="142646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953512" y="20299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추출·정규화·청킹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971800" y="260604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섹션/조항 단위 분할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+ 메타데이터 부여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965192" y="2331720"/>
            <a:ext cx="164592" cy="365760"/>
          </a:xfrm>
          <a:prstGeom prst="rtTriangle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129784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129784" y="1371600"/>
            <a:ext cx="2103120" cy="548640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5129784" y="142646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221224" y="20299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생성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239512" y="260604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instruction 변환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grounded + 출처인용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7232904" y="2331720"/>
            <a:ext cx="164592" cy="365760"/>
          </a:xfrm>
          <a:prstGeom prst="rtTriangle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397496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7397496" y="1371600"/>
            <a:ext cx="2103120" cy="548640"/>
          </a:xfrm>
          <a:prstGeom prst="rect">
            <a:avLst/>
          </a:prstGeom>
          <a:solidFill>
            <a:srgbClr val="2E8C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7397496" y="142646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488936" y="20299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임베딩·벡터DB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507224" y="260604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BGE-M3 1024d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cosine · 하이브리드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500616" y="2331720"/>
            <a:ext cx="164592" cy="365760"/>
          </a:xfrm>
          <a:prstGeom prst="rtTriangle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9665208" y="137160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9665208" y="1371600"/>
            <a:ext cx="2103120" cy="54864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9665208" y="1426464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algun Gothic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756648" y="202996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50"/>
              <a:buFont typeface="Malgun Gothic"/>
              <a:buNone/>
            </a:pPr>
            <a:r>
              <a:rPr lang="en-US" sz="135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GraphRAG / LPG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774936" y="2606040"/>
            <a:ext cx="18836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엔티티·관계 추출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Neo4j cypher 적재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94360" y="3931920"/>
            <a:ext cx="11018520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914400" y="406908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F2A54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키 연계   </a:t>
            </a:r>
            <a:r>
              <a:rPr lang="en-US" sz="13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chunk_id  ==  벡터DB id  ==  KG vector_ref</a:t>
            </a:r>
            <a:r>
              <a:rPr lang="en-US" sz="1300" b="0" i="0" u="none" strike="noStrike" cap="none">
                <a:solidFill>
                  <a:srgbClr val="CFE3ED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→  그래프 추론 중 원문 청크를 즉시 역추적 (RAG ↔ LPG ↔ SFT 정합성 보장)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94360" y="498348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94360" y="4983480"/>
            <a:ext cx="118872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822960" y="5074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임베딩 전략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22960" y="541324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프로토타입 TF-IDF(20k)+SVD/LSA 384d → 운영 BGE-M3 1024d 교체 · BM25(sparse)+dense 하이브리드, RRF 융합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217920" y="4983480"/>
            <a:ext cx="53949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6217920" y="4983480"/>
            <a:ext cx="118872" cy="109728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446520" y="5074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강화학습 데이터 전처리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446520" y="541324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B3A"/>
              </a:buClr>
              <a:buSzPts val="1100"/>
              <a:buFont typeface="Malgun Gothic"/>
              <a:buNone/>
            </a:pPr>
            <a:r>
              <a:rPr lang="en-US" sz="1100" b="0" i="0" u="none" strike="noStrike" cap="none">
                <a:solidFill>
                  <a:srgbClr val="1B2B3A"/>
                </a:solidFill>
                <a:latin typeface="Malgun Gothic"/>
                <a:ea typeface="Malgun Gothic"/>
                <a:cs typeface="Malgun Gothic"/>
                <a:sym typeface="Malgun Gothic"/>
              </a:rPr>
              <a:t>PPO 적재 시뮬 → KPI·reward_decomp·slot_assignment(CSV) → RDB + Neo4j KG + RAG rationale + XAI grounding + SFT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PortSLM · 항만 특화 SLM 파인튜닝 데이터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6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457200" y="411480"/>
            <a:ext cx="128016" cy="502920"/>
          </a:xfrm>
          <a:prstGeom prst="rect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713232" y="384048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600"/>
              <a:buFont typeface="Malgun Gothic"/>
              <a:buNone/>
            </a:pPr>
            <a:r>
              <a:rPr lang="en-US" sz="26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데이터 전처리 — 표준 산출물 &amp; 품질관리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코퍼스별 표준 산출물 세트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9"/>
          <p:cNvGraphicFramePr/>
          <p:nvPr/>
        </p:nvGraphicFramePr>
        <p:xfrm>
          <a:off x="73152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{3D9336D9-D000-49A8-BC92-41EED7D825D3}</a:tableStyleId>
              </a:tblPr>
              <a:tblGrid>
                <a:gridCol w="233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산출물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트랙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chunks.jsonl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RAG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조항/섹션 단위 청크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embedding_schema.json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RAG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벡터 스키마·인덱스 정의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vector_upsert.jsonl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RAG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벡터DB 적재 레코드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graph.json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LPG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노드·관계 그래프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graph_load.cypher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LPG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Neo4j 적재 스크립트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sft_dataset.jsonl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SFT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지시튜닝 데이터셋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파이프라인 설계서.docx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DOC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A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u="none" strike="noStrike" cap="none">
                          <a:solidFill>
                            <a:srgbClr val="1B2B3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구축 절차 문서</a:t>
                      </a:r>
                      <a:endParaRPr sz="11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3" name="Google Shape;223;p9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Malgun Gothic"/>
              <a:buNone/>
            </a:pPr>
            <a:r>
              <a:rPr lang="en-US" sz="15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정규화 · 품질 관리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583680" y="1627632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748272" y="1920240"/>
            <a:ext cx="365760" cy="365760"/>
          </a:xfrm>
          <a:prstGeom prst="ellipse">
            <a:avLst/>
          </a:prstGeom>
          <a:solidFill>
            <a:srgbClr val="0A52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7269480" y="17373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구조화 청킹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269480" y="2084832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80"/>
              <a:buFont typeface="Malgun Gothic"/>
              <a:buNone/>
            </a:pPr>
            <a:r>
              <a:rPr lang="en-US" sz="108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규정은 조항·섹션, EDI는 세그먼트, 적재계획은 챕터 단위로 분할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583680" y="2697480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6748272" y="299008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7269480" y="280720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메타데이터 부여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7269480" y="3154680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80"/>
              <a:buFont typeface="Malgun Gothic"/>
              <a:buNone/>
            </a:pPr>
            <a:r>
              <a:rPr lang="en-US" sz="108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doc_type·section·actors·security_level 등 페이로드 필드 태깅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583680" y="3767328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748272" y="4059936"/>
            <a:ext cx="365760" cy="365760"/>
          </a:xfrm>
          <a:prstGeom prst="ellipse">
            <a:avLst/>
          </a:prstGeom>
          <a:solidFill>
            <a:srgbClr val="13A1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7269480" y="387705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 고정(grounding)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269480" y="4224528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80"/>
              <a:buFont typeface="Malgun Gothic"/>
              <a:buNone/>
            </a:pPr>
            <a:r>
              <a:rPr lang="en-US" sz="108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SFT 답변에 출처 인용·운영판단 금지를 system 프롬프트로 강제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583680" y="4837176"/>
            <a:ext cx="50292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dist="38100" dir="8100000" algn="bl" rotWithShape="0">
              <a:srgbClr val="0B2545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6748272" y="5129784"/>
            <a:ext cx="365760" cy="365760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7269480" y="494690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Malgun Gothic"/>
              <a:buNone/>
            </a:pPr>
            <a:r>
              <a:rPr lang="en-US" sz="1300" b="1" i="0" u="none" strike="noStrike" cap="none">
                <a:solidFill>
                  <a:srgbClr val="0B2545"/>
                </a:solidFill>
                <a:latin typeface="Malgun Gothic"/>
                <a:ea typeface="Malgun Gothic"/>
                <a:cs typeface="Malgun Gothic"/>
                <a:sym typeface="Malgun Gothic"/>
              </a:rPr>
              <a:t>3트랙 정합성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269480" y="5294376"/>
            <a:ext cx="4251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1080"/>
              <a:buFont typeface="Malgun Gothic"/>
              <a:buNone/>
            </a:pPr>
            <a:r>
              <a:rPr lang="en-US" sz="108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chunk_id 공유 키로 RAG·LPG·SFT 상호 추적 가능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PortSLM · 항만 특화 SLM 파인튜닝 데이터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A6B7A"/>
              </a:buClr>
              <a:buSzPts val="900"/>
              <a:buFont typeface="Malgun Gothic"/>
              <a:buNone/>
            </a:pPr>
            <a:r>
              <a:rPr lang="en-US" sz="900" b="0" i="0" u="none" strike="noStrike" cap="none">
                <a:solidFill>
                  <a:srgbClr val="5A6B7A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944</Words>
  <Application>Microsoft Office PowerPoint</Application>
  <PresentationFormat>와이드스크린</PresentationFormat>
  <Paragraphs>179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lione</cp:lastModifiedBy>
  <cp:revision>2</cp:revision>
  <dcterms:modified xsi:type="dcterms:W3CDTF">2026-06-20T04:33:08Z</dcterms:modified>
</cp:coreProperties>
</file>